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1" r:id="rId4"/>
    <p:sldId id="258" r:id="rId5"/>
    <p:sldId id="262" r:id="rId6"/>
    <p:sldId id="263" r:id="rId7"/>
    <p:sldId id="259" r:id="rId8"/>
    <p:sldId id="260" r:id="rId9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2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61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F2495-7458-4CCD-A362-62FDAF742756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5A40-7D5F-482B-BF09-37D7A516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662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F2495-7458-4CCD-A362-62FDAF742756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5A40-7D5F-482B-BF09-37D7A516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822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F2495-7458-4CCD-A362-62FDAF742756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5A40-7D5F-482B-BF09-37D7A516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810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F2495-7458-4CCD-A362-62FDAF742756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5A40-7D5F-482B-BF09-37D7A516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89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F2495-7458-4CCD-A362-62FDAF742756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5A40-7D5F-482B-BF09-37D7A516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217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F2495-7458-4CCD-A362-62FDAF742756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5A40-7D5F-482B-BF09-37D7A516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903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F2495-7458-4CCD-A362-62FDAF742756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5A40-7D5F-482B-BF09-37D7A516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110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F2495-7458-4CCD-A362-62FDAF742756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5A40-7D5F-482B-BF09-37D7A516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444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F2495-7458-4CCD-A362-62FDAF742756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5A40-7D5F-482B-BF09-37D7A516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879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F2495-7458-4CCD-A362-62FDAF742756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5A40-7D5F-482B-BF09-37D7A516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863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F2495-7458-4CCD-A362-62FDAF742756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5A40-7D5F-482B-BF09-37D7A516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978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3F2495-7458-4CCD-A362-62FDAF742756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525A40-7D5F-482B-BF09-37D7A516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86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2BEE35-547E-432A-A8EA-9766F178F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174" y="415190"/>
            <a:ext cx="7603755" cy="39238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055898-DAD6-68C8-3738-20FED7DEC74D}"/>
              </a:ext>
            </a:extLst>
          </p:cNvPr>
          <p:cNvSpPr txBox="1"/>
          <p:nvPr/>
        </p:nvSpPr>
        <p:spPr>
          <a:xfrm>
            <a:off x="4589253" y="2377138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Nguồn</a:t>
            </a:r>
            <a:r>
              <a:rPr lang="en-US" b="1" dirty="0"/>
              <a:t> =&gt; </a:t>
            </a:r>
            <a:r>
              <a:rPr lang="en-US" b="1" dirty="0" err="1"/>
              <a:t>công</a:t>
            </a:r>
            <a:r>
              <a:rPr lang="en-US" b="1" dirty="0"/>
              <a:t> </a:t>
            </a:r>
            <a:r>
              <a:rPr lang="en-US" b="1" dirty="0" err="1"/>
              <a:t>tắc</a:t>
            </a:r>
            <a:r>
              <a:rPr lang="en-US" b="1" dirty="0"/>
              <a:t> =&gt; </a:t>
            </a:r>
            <a:r>
              <a:rPr lang="en-US" b="1" dirty="0" err="1"/>
              <a:t>điện</a:t>
            </a:r>
            <a:r>
              <a:rPr lang="en-US" b="1" dirty="0"/>
              <a:t> </a:t>
            </a:r>
            <a:r>
              <a:rPr lang="en-US" b="1" dirty="0" err="1"/>
              <a:t>trở</a:t>
            </a:r>
            <a:r>
              <a:rPr lang="en-US" b="1" dirty="0"/>
              <a:t>=&gt; led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EFBA41-04DD-3155-6153-9EC388E4FF11}"/>
              </a:ext>
            </a:extLst>
          </p:cNvPr>
          <p:cNvSpPr txBox="1"/>
          <p:nvPr/>
        </p:nvSpPr>
        <p:spPr>
          <a:xfrm>
            <a:off x="5331539" y="3235001"/>
            <a:ext cx="23934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Click </a:t>
            </a:r>
            <a:r>
              <a:rPr lang="en-US" sz="1400" dirty="0" err="1"/>
              <a:t>vào</a:t>
            </a:r>
            <a:r>
              <a:rPr lang="en-US" sz="1400" dirty="0"/>
              <a:t> </a:t>
            </a:r>
            <a:r>
              <a:rPr lang="en-US" sz="1400" dirty="0" err="1"/>
              <a:t>linh</a:t>
            </a:r>
            <a:r>
              <a:rPr lang="en-US" sz="1400" dirty="0"/>
              <a:t> </a:t>
            </a:r>
            <a:r>
              <a:rPr lang="en-US" sz="1400" dirty="0" err="1"/>
              <a:t>kiện</a:t>
            </a:r>
            <a:r>
              <a:rPr lang="en-US" sz="1400" dirty="0"/>
              <a:t> </a:t>
            </a:r>
            <a:r>
              <a:rPr lang="en-US" sz="1400" dirty="0" err="1"/>
              <a:t>và</a:t>
            </a:r>
            <a:r>
              <a:rPr lang="en-US" sz="1400" dirty="0"/>
              <a:t> </a:t>
            </a:r>
            <a:r>
              <a:rPr lang="en-US" sz="1400" dirty="0" err="1"/>
              <a:t>nối</a:t>
            </a:r>
            <a:r>
              <a:rPr lang="en-US" sz="1400" dirty="0"/>
              <a:t> </a:t>
            </a:r>
            <a:r>
              <a:rPr lang="en-US" sz="1400" dirty="0" err="1"/>
              <a:t>dây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44769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52D111-43A6-811B-EEF0-CD6CCE437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049" y="840478"/>
            <a:ext cx="6909758" cy="361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254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8A408E-EF51-C2D6-B5DC-ACC390574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9562"/>
            <a:ext cx="9906000" cy="21725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F4F8CD-BC7A-DC38-350A-36D7551C98D4}"/>
              </a:ext>
            </a:extLst>
          </p:cNvPr>
          <p:cNvSpPr txBox="1"/>
          <p:nvPr/>
        </p:nvSpPr>
        <p:spPr>
          <a:xfrm>
            <a:off x="161025" y="3135703"/>
            <a:ext cx="856603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Lời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khuyên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tế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Nếu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bạn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triển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dự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án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nghiệp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/automation: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NX Open C#, Python,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hoặc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Java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mạnh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nhất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Nếu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lặp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lại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thao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đơn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giản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Journal.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Nếu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cần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UI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tuỳ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chỉnh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NX Open + UI Styler.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Nếu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xử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lớn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batch process: Python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hoặc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Batch Script + Journal.</a:t>
            </a:r>
          </a:p>
        </p:txBody>
      </p:sp>
    </p:spTree>
    <p:extLst>
      <p:ext uri="{BB962C8B-B14F-4D97-AF65-F5344CB8AC3E}">
        <p14:creationId xmlns:p14="http://schemas.microsoft.com/office/powerpoint/2010/main" val="742364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E9708E72-E07C-C7C2-76BE-9A03B1CEEE65}"/>
              </a:ext>
            </a:extLst>
          </p:cNvPr>
          <p:cNvGrpSpPr/>
          <p:nvPr/>
        </p:nvGrpSpPr>
        <p:grpSpPr>
          <a:xfrm>
            <a:off x="370929" y="1048323"/>
            <a:ext cx="2967488" cy="2009954"/>
            <a:chOff x="681486" y="431321"/>
            <a:chExt cx="2967488" cy="200995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155B3EC-8F36-C5F2-E511-563090C9B7E0}"/>
                </a:ext>
              </a:extLst>
            </p:cNvPr>
            <p:cNvSpPr/>
            <p:nvPr/>
          </p:nvSpPr>
          <p:spPr>
            <a:xfrm>
              <a:off x="681487" y="750497"/>
              <a:ext cx="2967487" cy="169077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0AC1CFB-BDF9-C742-6A6A-F069E89D163E}"/>
                </a:ext>
              </a:extLst>
            </p:cNvPr>
            <p:cNvSpPr/>
            <p:nvPr/>
          </p:nvSpPr>
          <p:spPr>
            <a:xfrm>
              <a:off x="681487" y="431321"/>
              <a:ext cx="2536166" cy="31917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Part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899E7F2-EDA9-EAB7-9BE5-7A06D0869CA5}"/>
                </a:ext>
              </a:extLst>
            </p:cNvPr>
            <p:cNvSpPr txBox="1"/>
            <p:nvPr/>
          </p:nvSpPr>
          <p:spPr>
            <a:xfrm>
              <a:off x="681486" y="750498"/>
              <a:ext cx="2967487" cy="1600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Tx/>
                <a:buChar char="-"/>
              </a:pPr>
              <a:r>
                <a:rPr lang="en-US" sz="1400" dirty="0"/>
                <a:t>Thay </a:t>
              </a:r>
              <a:r>
                <a:rPr lang="en-US" sz="1400" dirty="0" err="1"/>
                <a:t>đổi</a:t>
              </a:r>
              <a:r>
                <a:rPr lang="en-US" sz="1400" dirty="0"/>
                <a:t> parameter ( 1 </a:t>
              </a:r>
              <a:r>
                <a:rPr lang="en-US" sz="1400" dirty="0" err="1"/>
                <a:t>tham</a:t>
              </a:r>
              <a:r>
                <a:rPr lang="en-US" sz="1400" dirty="0"/>
                <a:t> </a:t>
              </a:r>
              <a:r>
                <a:rPr lang="en-US" sz="1400" dirty="0" err="1"/>
                <a:t>số</a:t>
              </a:r>
              <a:r>
                <a:rPr lang="en-US" sz="1400" dirty="0"/>
                <a:t>)</a:t>
              </a:r>
            </a:p>
            <a:p>
              <a:pPr marL="285750" indent="-285750">
                <a:buFontTx/>
                <a:buChar char="-"/>
              </a:pPr>
              <a:r>
                <a:rPr lang="en-US" sz="1400" dirty="0"/>
                <a:t>Thay </a:t>
              </a:r>
              <a:r>
                <a:rPr lang="en-US" sz="1400" dirty="0" err="1"/>
                <a:t>đổi</a:t>
              </a:r>
              <a:r>
                <a:rPr lang="en-US" sz="1400" dirty="0"/>
                <a:t> </a:t>
              </a:r>
              <a:r>
                <a:rPr lang="en-US" sz="1400" dirty="0" err="1"/>
                <a:t>tham</a:t>
              </a:r>
              <a:r>
                <a:rPr lang="en-US" sz="1400" dirty="0"/>
                <a:t> </a:t>
              </a:r>
              <a:r>
                <a:rPr lang="en-US" sz="1400" dirty="0" err="1"/>
                <a:t>số</a:t>
              </a:r>
              <a:r>
                <a:rPr lang="en-US" sz="1400" dirty="0"/>
                <a:t> parameter(list parameter)</a:t>
              </a:r>
            </a:p>
            <a:p>
              <a:pPr marL="285750" indent="-285750">
                <a:buFontTx/>
                <a:buChar char="-"/>
              </a:pPr>
              <a:r>
                <a:rPr lang="en-US" sz="1400" dirty="0" err="1"/>
                <a:t>Lấy</a:t>
              </a:r>
              <a:r>
                <a:rPr lang="en-US" sz="1400" dirty="0"/>
                <a:t> </a:t>
              </a:r>
              <a:r>
                <a:rPr lang="en-US" sz="1400" dirty="0" err="1"/>
                <a:t>tên</a:t>
              </a:r>
              <a:r>
                <a:rPr lang="en-US" sz="1400" dirty="0"/>
                <a:t> </a:t>
              </a:r>
              <a:r>
                <a:rPr lang="en-US" sz="1400" dirty="0" err="1"/>
                <a:t>các</a:t>
              </a:r>
              <a:r>
                <a:rPr lang="en-US" sz="1400" dirty="0"/>
                <a:t> feature</a:t>
              </a:r>
            </a:p>
            <a:p>
              <a:pPr marL="285750" indent="-285750">
                <a:buFontTx/>
                <a:buChar char="-"/>
              </a:pPr>
              <a:r>
                <a:rPr lang="en-US" sz="1400" dirty="0"/>
                <a:t>Suppres/</a:t>
              </a:r>
              <a:r>
                <a:rPr lang="en-US" sz="1400" dirty="0" err="1"/>
                <a:t>unsuppress</a:t>
              </a:r>
              <a:r>
                <a:rPr lang="en-US" sz="1400" dirty="0"/>
                <a:t> feature</a:t>
              </a:r>
            </a:p>
            <a:p>
              <a:pPr marL="285750" indent="-285750">
                <a:buFontTx/>
                <a:buChar char="-"/>
              </a:pPr>
              <a:r>
                <a:rPr lang="en-US" sz="1400" dirty="0"/>
                <a:t>Change color</a:t>
              </a:r>
            </a:p>
            <a:p>
              <a:pPr marL="285750" indent="-285750">
                <a:buFontTx/>
                <a:buChar char="-"/>
              </a:pPr>
              <a:r>
                <a:rPr lang="en-US" sz="1400" dirty="0"/>
                <a:t>Change material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89EF1D3-83D8-510C-AE13-492C84EEB692}"/>
              </a:ext>
            </a:extLst>
          </p:cNvPr>
          <p:cNvGrpSpPr/>
          <p:nvPr/>
        </p:nvGrpSpPr>
        <p:grpSpPr>
          <a:xfrm>
            <a:off x="3431870" y="1046154"/>
            <a:ext cx="2981861" cy="2352670"/>
            <a:chOff x="4938625" y="429152"/>
            <a:chExt cx="2981861" cy="235267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79D5C19-9000-8FF6-474A-C2B039A624DF}"/>
                </a:ext>
              </a:extLst>
            </p:cNvPr>
            <p:cNvSpPr/>
            <p:nvPr/>
          </p:nvSpPr>
          <p:spPr>
            <a:xfrm>
              <a:off x="4938625" y="429152"/>
              <a:ext cx="2536166" cy="31917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Assembly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D7FED24-3911-C282-EA3D-72BC66135BB4}"/>
                </a:ext>
              </a:extLst>
            </p:cNvPr>
            <p:cNvSpPr txBox="1"/>
            <p:nvPr/>
          </p:nvSpPr>
          <p:spPr>
            <a:xfrm>
              <a:off x="4952999" y="750497"/>
              <a:ext cx="2967487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Tx/>
                <a:buChar char="-"/>
              </a:pPr>
              <a:r>
                <a:rPr lang="en-US" sz="1400" dirty="0"/>
                <a:t>Thay </a:t>
              </a:r>
              <a:r>
                <a:rPr lang="en-US" sz="1400" dirty="0" err="1"/>
                <a:t>đổi</a:t>
              </a:r>
              <a:r>
                <a:rPr lang="en-US" sz="1400" dirty="0"/>
                <a:t> parameter ( 1 </a:t>
              </a:r>
              <a:r>
                <a:rPr lang="en-US" sz="1400" dirty="0" err="1"/>
                <a:t>tham</a:t>
              </a:r>
              <a:r>
                <a:rPr lang="en-US" sz="1400" dirty="0"/>
                <a:t> </a:t>
              </a:r>
              <a:r>
                <a:rPr lang="en-US" sz="1400" dirty="0" err="1"/>
                <a:t>số</a:t>
              </a:r>
              <a:r>
                <a:rPr lang="en-US" sz="1400" dirty="0"/>
                <a:t>)</a:t>
              </a:r>
            </a:p>
            <a:p>
              <a:pPr marL="285750" indent="-285750">
                <a:buFontTx/>
                <a:buChar char="-"/>
              </a:pPr>
              <a:r>
                <a:rPr lang="en-US" sz="1400" dirty="0"/>
                <a:t>Thay </a:t>
              </a:r>
              <a:r>
                <a:rPr lang="en-US" sz="1400" dirty="0" err="1"/>
                <a:t>đổi</a:t>
              </a:r>
              <a:r>
                <a:rPr lang="en-US" sz="1400" dirty="0"/>
                <a:t> </a:t>
              </a:r>
              <a:r>
                <a:rPr lang="en-US" sz="1400" dirty="0" err="1"/>
                <a:t>tham</a:t>
              </a:r>
              <a:r>
                <a:rPr lang="en-US" sz="1400" dirty="0"/>
                <a:t> </a:t>
              </a:r>
              <a:r>
                <a:rPr lang="en-US" sz="1400" dirty="0" err="1"/>
                <a:t>số</a:t>
              </a:r>
              <a:r>
                <a:rPr lang="en-US" sz="1400" dirty="0"/>
                <a:t> parameter(list parameter)</a:t>
              </a:r>
            </a:p>
            <a:p>
              <a:pPr marL="285750" indent="-285750">
                <a:buFontTx/>
                <a:buChar char="-"/>
              </a:pPr>
              <a:r>
                <a:rPr lang="en-US" sz="1400" dirty="0" err="1"/>
                <a:t>Lấy</a:t>
              </a:r>
              <a:r>
                <a:rPr lang="en-US" sz="1400" dirty="0"/>
                <a:t> </a:t>
              </a:r>
              <a:r>
                <a:rPr lang="en-US" sz="1400" dirty="0" err="1"/>
                <a:t>tên</a:t>
              </a:r>
              <a:r>
                <a:rPr lang="en-US" sz="1400" dirty="0"/>
                <a:t> </a:t>
              </a:r>
              <a:r>
                <a:rPr lang="en-US" sz="1400" dirty="0" err="1"/>
                <a:t>các</a:t>
              </a:r>
              <a:r>
                <a:rPr lang="en-US" sz="1400" dirty="0"/>
                <a:t> part</a:t>
              </a:r>
            </a:p>
            <a:p>
              <a:pPr marL="285750" indent="-285750">
                <a:buFontTx/>
                <a:buChar char="-"/>
              </a:pPr>
              <a:r>
                <a:rPr lang="en-US" sz="1400" dirty="0"/>
                <a:t>Suppres/</a:t>
              </a:r>
              <a:r>
                <a:rPr lang="en-US" sz="1400" dirty="0" err="1"/>
                <a:t>unsuppress</a:t>
              </a:r>
              <a:r>
                <a:rPr lang="en-US" sz="1400" dirty="0"/>
                <a:t> part</a:t>
              </a:r>
            </a:p>
            <a:p>
              <a:pPr marL="285750" indent="-285750">
                <a:buFontTx/>
                <a:buChar char="-"/>
              </a:pPr>
              <a:r>
                <a:rPr lang="en-US" sz="1400" dirty="0"/>
                <a:t>Visible part in choose</a:t>
              </a:r>
            </a:p>
            <a:p>
              <a:pPr marL="285750" indent="-285750">
                <a:buFontTx/>
                <a:buChar char="-"/>
              </a:pPr>
              <a:r>
                <a:rPr lang="en-US" sz="1400" strike="sngStrike" dirty="0"/>
                <a:t>Change parameter simulation.</a:t>
              </a:r>
            </a:p>
            <a:p>
              <a:pPr marL="285750" indent="-285750">
                <a:buFontTx/>
                <a:buChar char="-"/>
              </a:pPr>
              <a:r>
                <a:rPr lang="en-US" sz="1400" dirty="0"/>
                <a:t>Update change</a:t>
              </a:r>
            </a:p>
            <a:p>
              <a:pPr marL="285750" indent="-285750">
                <a:buFontTx/>
                <a:buChar char="-"/>
              </a:pPr>
              <a:r>
                <a:rPr lang="en-US" sz="1400" dirty="0"/>
                <a:t>Change color assembly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4721786-0BBB-B928-ECF7-B6B4A5F94C67}"/>
                </a:ext>
              </a:extLst>
            </p:cNvPr>
            <p:cNvSpPr/>
            <p:nvPr/>
          </p:nvSpPr>
          <p:spPr>
            <a:xfrm>
              <a:off x="4941499" y="750496"/>
              <a:ext cx="2967487" cy="200995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8960F39-3A95-6610-5ED5-409DFCC9512A}"/>
              </a:ext>
            </a:extLst>
          </p:cNvPr>
          <p:cNvGrpSpPr/>
          <p:nvPr/>
        </p:nvGrpSpPr>
        <p:grpSpPr>
          <a:xfrm>
            <a:off x="370929" y="3158919"/>
            <a:ext cx="2967489" cy="3449305"/>
            <a:chOff x="681485" y="2679940"/>
            <a:chExt cx="2967489" cy="344930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9838476-D567-8B39-ED89-26AFD2409CE6}"/>
                </a:ext>
              </a:extLst>
            </p:cNvPr>
            <p:cNvSpPr/>
            <p:nvPr/>
          </p:nvSpPr>
          <p:spPr>
            <a:xfrm>
              <a:off x="681487" y="2999115"/>
              <a:ext cx="2967487" cy="297036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68F848E-6AAA-2AEA-6F65-C4F1642856A4}"/>
                </a:ext>
              </a:extLst>
            </p:cNvPr>
            <p:cNvSpPr/>
            <p:nvPr/>
          </p:nvSpPr>
          <p:spPr>
            <a:xfrm>
              <a:off x="681487" y="2679940"/>
              <a:ext cx="2536166" cy="31917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General 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7E09D7C-F3AA-602E-4C92-78339C985400}"/>
                </a:ext>
              </a:extLst>
            </p:cNvPr>
            <p:cNvSpPr txBox="1"/>
            <p:nvPr/>
          </p:nvSpPr>
          <p:spPr>
            <a:xfrm>
              <a:off x="681485" y="3020702"/>
              <a:ext cx="2967487" cy="3108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Tx/>
                <a:buChar char="-"/>
              </a:pPr>
              <a:r>
                <a:rPr lang="en-US" sz="1400" dirty="0"/>
                <a:t>Check open software</a:t>
              </a:r>
            </a:p>
            <a:p>
              <a:pPr marL="285750" indent="-285750">
                <a:buFontTx/>
                <a:buChar char="-"/>
              </a:pPr>
              <a:r>
                <a:rPr lang="en-US" sz="1400" dirty="0"/>
                <a:t>Check open part/assembly/drawing</a:t>
              </a:r>
            </a:p>
            <a:p>
              <a:pPr marL="285750" indent="-285750">
                <a:buFontTx/>
                <a:buChar char="-"/>
              </a:pPr>
              <a:r>
                <a:rPr lang="en-US" sz="1400" strike="sngStrike" dirty="0"/>
                <a:t>Export PDF</a:t>
              </a:r>
            </a:p>
            <a:p>
              <a:pPr marL="285750" indent="-285750">
                <a:buFontTx/>
                <a:buChar char="-"/>
              </a:pPr>
              <a:r>
                <a:rPr lang="en-US" sz="1400" dirty="0"/>
                <a:t>Create QR code with part/Assembly.</a:t>
              </a:r>
            </a:p>
            <a:p>
              <a:pPr marL="285750" indent="-285750">
                <a:buFontTx/>
                <a:buChar char="-"/>
              </a:pPr>
              <a:r>
                <a:rPr lang="en-US" sz="1400" dirty="0"/>
                <a:t>Open Part</a:t>
              </a:r>
            </a:p>
            <a:p>
              <a:pPr marL="285750" indent="-285750">
                <a:buFontTx/>
                <a:buChar char="-"/>
              </a:pPr>
              <a:r>
                <a:rPr lang="en-US" sz="1400" dirty="0"/>
                <a:t>Open Assembly</a:t>
              </a:r>
            </a:p>
            <a:p>
              <a:pPr marL="285750" indent="-285750">
                <a:buFontTx/>
                <a:buChar char="-"/>
              </a:pPr>
              <a:r>
                <a:rPr lang="en-US" sz="1400" dirty="0"/>
                <a:t>Open part(run hide)</a:t>
              </a:r>
            </a:p>
            <a:p>
              <a:pPr marL="285750" indent="-285750">
                <a:buFontTx/>
                <a:buChar char="-"/>
              </a:pPr>
              <a:r>
                <a:rPr lang="en-US" sz="1400" dirty="0"/>
                <a:t>Open Assembly (run hide).</a:t>
              </a:r>
            </a:p>
            <a:p>
              <a:pPr marL="285750" indent="-285750">
                <a:buFontTx/>
                <a:buChar char="-"/>
              </a:pPr>
              <a:r>
                <a:rPr lang="en-US" sz="1400" dirty="0"/>
                <a:t>Open software(run hide).</a:t>
              </a:r>
            </a:p>
            <a:p>
              <a:pPr marL="285750" indent="-285750">
                <a:buFontTx/>
                <a:buChar char="-"/>
              </a:pPr>
              <a:r>
                <a:rPr lang="en-US" sz="1400" dirty="0"/>
                <a:t>Set view</a:t>
              </a:r>
            </a:p>
            <a:p>
              <a:pPr marL="285750" indent="-285750">
                <a:buFontTx/>
                <a:buChar char="-"/>
              </a:pPr>
              <a:r>
                <a:rPr lang="en-US" sz="1400" dirty="0"/>
                <a:t>Create a platform</a:t>
              </a:r>
            </a:p>
            <a:p>
              <a:pPr marL="285750" indent="-285750">
                <a:buFontTx/>
                <a:buChar char="-"/>
              </a:pPr>
              <a:endParaRPr lang="en-US" sz="140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2F3C619-F69F-1B51-E938-5AE025C7BEED}"/>
              </a:ext>
            </a:extLst>
          </p:cNvPr>
          <p:cNvGrpSpPr/>
          <p:nvPr/>
        </p:nvGrpSpPr>
        <p:grpSpPr>
          <a:xfrm>
            <a:off x="3446244" y="3486037"/>
            <a:ext cx="2967489" cy="2009954"/>
            <a:chOff x="4941497" y="2999117"/>
            <a:chExt cx="2967489" cy="20099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A31AEBE-C2F5-45C2-A247-640B955E59F7}"/>
                </a:ext>
              </a:extLst>
            </p:cNvPr>
            <p:cNvSpPr/>
            <p:nvPr/>
          </p:nvSpPr>
          <p:spPr>
            <a:xfrm>
              <a:off x="4941499" y="3318293"/>
              <a:ext cx="2967487" cy="169077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327E433-2767-5FD7-5EA9-51F12E40595E}"/>
                </a:ext>
              </a:extLst>
            </p:cNvPr>
            <p:cNvSpPr/>
            <p:nvPr/>
          </p:nvSpPr>
          <p:spPr>
            <a:xfrm>
              <a:off x="4941499" y="2999117"/>
              <a:ext cx="2536166" cy="3191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Advanced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7C5DFF0-71D8-9598-AFF3-BDCDBE49F67E}"/>
                </a:ext>
              </a:extLst>
            </p:cNvPr>
            <p:cNvSpPr txBox="1"/>
            <p:nvPr/>
          </p:nvSpPr>
          <p:spPr>
            <a:xfrm>
              <a:off x="4941497" y="3339879"/>
              <a:ext cx="2967487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Tx/>
                <a:buChar char="-"/>
              </a:pPr>
              <a:r>
                <a:rPr lang="en-US" sz="1400" dirty="0"/>
                <a:t>List components in Assembly=&gt; estimate manufacturing cost.</a:t>
              </a:r>
            </a:p>
            <a:p>
              <a:pPr marL="285750" indent="-285750">
                <a:buFontTx/>
                <a:buChar char="-"/>
              </a:pPr>
              <a:r>
                <a:rPr lang="en-US" sz="1400" dirty="0"/>
                <a:t>Scan QR in drawing to show position in3d model.</a:t>
              </a:r>
            </a:p>
            <a:p>
              <a:pPr marL="285750" indent="-285750">
                <a:buFontTx/>
                <a:buChar char="-"/>
              </a:pPr>
              <a:endParaRPr lang="en-US" sz="14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70634C4-32BC-B394-45EF-A4BC9A467F56}"/>
              </a:ext>
            </a:extLst>
          </p:cNvPr>
          <p:cNvGrpSpPr/>
          <p:nvPr/>
        </p:nvGrpSpPr>
        <p:grpSpPr>
          <a:xfrm>
            <a:off x="6505748" y="1046154"/>
            <a:ext cx="2967489" cy="2009954"/>
            <a:chOff x="4941497" y="2999117"/>
            <a:chExt cx="2967489" cy="200995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20C6110-BF28-2B0E-A10C-E2E8D9A54C03}"/>
                </a:ext>
              </a:extLst>
            </p:cNvPr>
            <p:cNvSpPr/>
            <p:nvPr/>
          </p:nvSpPr>
          <p:spPr>
            <a:xfrm>
              <a:off x="4941499" y="3318293"/>
              <a:ext cx="2967487" cy="169077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3AE12E4-9826-782D-ED94-4950A4087FE7}"/>
                </a:ext>
              </a:extLst>
            </p:cNvPr>
            <p:cNvSpPr/>
            <p:nvPr/>
          </p:nvSpPr>
          <p:spPr>
            <a:xfrm>
              <a:off x="4941499" y="2999117"/>
              <a:ext cx="2536166" cy="3191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Communication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34A102D-0238-E53E-05BD-9A60FE9CAB69}"/>
                </a:ext>
              </a:extLst>
            </p:cNvPr>
            <p:cNvSpPr txBox="1"/>
            <p:nvPr/>
          </p:nvSpPr>
          <p:spPr>
            <a:xfrm>
              <a:off x="4941497" y="3339879"/>
              <a:ext cx="2967487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Tx/>
                <a:buChar char="-"/>
              </a:pPr>
              <a:r>
                <a:rPr lang="en-US" sz="1400" dirty="0"/>
                <a:t>Connect CNC machine serial port</a:t>
              </a:r>
            </a:p>
            <a:p>
              <a:pPr marL="285750" indent="-285750">
                <a:buFontTx/>
                <a:buChar char="-"/>
              </a:pPr>
              <a:r>
                <a:rPr lang="en-US" sz="1400" dirty="0"/>
                <a:t>Wireless connect CNC machine </a:t>
              </a:r>
            </a:p>
            <a:p>
              <a:pPr marL="285750" indent="-285750">
                <a:buFontTx/>
                <a:buChar char="-"/>
              </a:pPr>
              <a:r>
                <a:rPr lang="en-US" sz="1400" dirty="0"/>
                <a:t>Send file G-code , X-Code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80385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94AC4BB-CCFC-4676-D8FE-50A5F5D3C561}"/>
              </a:ext>
            </a:extLst>
          </p:cNvPr>
          <p:cNvGrpSpPr/>
          <p:nvPr/>
        </p:nvGrpSpPr>
        <p:grpSpPr>
          <a:xfrm>
            <a:off x="155269" y="202934"/>
            <a:ext cx="2967488" cy="1686251"/>
            <a:chOff x="681486" y="431321"/>
            <a:chExt cx="2967488" cy="168625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8E6BC5B-43B6-BF15-C938-B9399A2F202B}"/>
                </a:ext>
              </a:extLst>
            </p:cNvPr>
            <p:cNvSpPr/>
            <p:nvPr/>
          </p:nvSpPr>
          <p:spPr>
            <a:xfrm>
              <a:off x="681487" y="750497"/>
              <a:ext cx="2967487" cy="136707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4387D9B-FD98-A877-19EE-19CB9489DE5B}"/>
                </a:ext>
              </a:extLst>
            </p:cNvPr>
            <p:cNvSpPr/>
            <p:nvPr/>
          </p:nvSpPr>
          <p:spPr>
            <a:xfrm>
              <a:off x="681487" y="431321"/>
              <a:ext cx="2536166" cy="31917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/>
                <a:t>1.NX Open Concepts &amp; Architecture</a:t>
              </a:r>
              <a:endParaRPr lang="en-US" sz="11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910E2FE-4968-C317-56AB-419FE1D2AE07}"/>
                </a:ext>
              </a:extLst>
            </p:cNvPr>
            <p:cNvSpPr txBox="1"/>
            <p:nvPr/>
          </p:nvSpPr>
          <p:spPr>
            <a:xfrm>
              <a:off x="681486" y="750498"/>
              <a:ext cx="296748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fontAlgn="base">
                <a:buFont typeface="Arial" panose="020B0604020202020204" pitchFamily="34" charset="0"/>
                <a:buChar char="•"/>
              </a:pP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Sessions and Parts</a:t>
              </a:r>
            </a:p>
            <a:p>
              <a:pPr marL="285750" indent="-285750" fontAlgn="base">
                <a:buFont typeface="Arial" panose="020B0604020202020204" pitchFamily="34" charset="0"/>
                <a:buChar char="•"/>
              </a:pP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Objects and Tags</a:t>
              </a:r>
            </a:p>
            <a:p>
              <a:pPr marL="285750" indent="-285750" fontAlgn="base">
                <a:buFont typeface="Arial" panose="020B0604020202020204" pitchFamily="34" charset="0"/>
                <a:buChar char="•"/>
              </a:pP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Factory Objects</a:t>
              </a:r>
            </a:p>
            <a:p>
              <a:pPr marL="285750" indent="-285750" fontAlgn="base">
                <a:buFont typeface="Arial" panose="020B0604020202020204" pitchFamily="34" charset="0"/>
                <a:buChar char="•"/>
              </a:pP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Object Collections</a:t>
              </a:r>
            </a:p>
            <a:p>
              <a:pPr marL="285750" indent="-285750" fontAlgn="base">
                <a:buFont typeface="Arial" panose="020B0604020202020204" pitchFamily="34" charset="0"/>
                <a:buChar char="•"/>
              </a:pP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The Builder Pattern</a:t>
              </a:r>
            </a:p>
            <a:p>
              <a:pPr marL="285750" indent="-285750" fontAlgn="base">
                <a:buFont typeface="Arial" panose="020B0604020202020204" pitchFamily="34" charset="0"/>
                <a:buChar char="•"/>
              </a:pP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Exploring NX Open Using Journaling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B046615-2286-2334-A125-1993010CF52B}"/>
              </a:ext>
            </a:extLst>
          </p:cNvPr>
          <p:cNvGrpSpPr/>
          <p:nvPr/>
        </p:nvGrpSpPr>
        <p:grpSpPr>
          <a:xfrm>
            <a:off x="3469256" y="202934"/>
            <a:ext cx="2967488" cy="1150174"/>
            <a:chOff x="681486" y="431321"/>
            <a:chExt cx="2967488" cy="115017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0BD6DBE-2612-6F1A-4F57-F7796526CA11}"/>
                </a:ext>
              </a:extLst>
            </p:cNvPr>
            <p:cNvSpPr/>
            <p:nvPr/>
          </p:nvSpPr>
          <p:spPr>
            <a:xfrm>
              <a:off x="681487" y="750497"/>
              <a:ext cx="2967487" cy="6463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6BEA0D0-75F0-8897-B489-4D5A032ADB95}"/>
                </a:ext>
              </a:extLst>
            </p:cNvPr>
            <p:cNvSpPr/>
            <p:nvPr/>
          </p:nvSpPr>
          <p:spPr>
            <a:xfrm>
              <a:off x="681487" y="431321"/>
              <a:ext cx="2536166" cy="31917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/>
                <a:t>2. Positions, Vectors, and Points</a:t>
              </a:r>
              <a:endParaRPr lang="en-US" sz="11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D975E8E-C15C-02A9-7E00-1ACB24CB700C}"/>
                </a:ext>
              </a:extLst>
            </p:cNvPr>
            <p:cNvSpPr txBox="1"/>
            <p:nvPr/>
          </p:nvSpPr>
          <p:spPr>
            <a:xfrm>
              <a:off x="681486" y="750498"/>
              <a:ext cx="296748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Point3d Objects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Vector3d Objects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Smart Points</a:t>
              </a:r>
            </a:p>
            <a:p>
              <a:pPr marL="171450" indent="-171450" fontAlgn="base">
                <a:buFont typeface="Arial" panose="020B0604020202020204" pitchFamily="34" charset="0"/>
                <a:buChar char="•"/>
              </a:pP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1C93ADC-E745-6852-3A15-8686B84A935C}"/>
              </a:ext>
            </a:extLst>
          </p:cNvPr>
          <p:cNvGrpSpPr/>
          <p:nvPr/>
        </p:nvGrpSpPr>
        <p:grpSpPr>
          <a:xfrm>
            <a:off x="6783242" y="202934"/>
            <a:ext cx="2967488" cy="1877455"/>
            <a:chOff x="681486" y="431321"/>
            <a:chExt cx="2967488" cy="1877455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08C9C10-4D03-6245-480E-9187383DCBA9}"/>
                </a:ext>
              </a:extLst>
            </p:cNvPr>
            <p:cNvSpPr/>
            <p:nvPr/>
          </p:nvSpPr>
          <p:spPr>
            <a:xfrm>
              <a:off x="681487" y="750497"/>
              <a:ext cx="2967487" cy="155827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CF83ABF-35B6-A5B3-BF77-FF67FF03402E}"/>
                </a:ext>
              </a:extLst>
            </p:cNvPr>
            <p:cNvSpPr/>
            <p:nvPr/>
          </p:nvSpPr>
          <p:spPr>
            <a:xfrm>
              <a:off x="681487" y="431321"/>
              <a:ext cx="2536166" cy="31917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/>
                <a:t>3. Working with Curves</a:t>
              </a:r>
              <a:endParaRPr lang="en-US" sz="110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BCCCF80-7916-00FF-FC2B-EFDAB86254B4}"/>
                </a:ext>
              </a:extLst>
            </p:cNvPr>
            <p:cNvSpPr txBox="1"/>
            <p:nvPr/>
          </p:nvSpPr>
          <p:spPr>
            <a:xfrm>
              <a:off x="681486" y="812782"/>
              <a:ext cx="2967487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Lines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Associative Line Features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Arcs and Circles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Associative Arc Features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Conic Section Curves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Studio Splines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Sketches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646CF51-456F-7E1A-BCF2-22F28687B5A0}"/>
              </a:ext>
            </a:extLst>
          </p:cNvPr>
          <p:cNvGrpSpPr/>
          <p:nvPr/>
        </p:nvGrpSpPr>
        <p:grpSpPr>
          <a:xfrm>
            <a:off x="155268" y="2208362"/>
            <a:ext cx="2967488" cy="1212459"/>
            <a:chOff x="681486" y="431321"/>
            <a:chExt cx="2967488" cy="1212459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A01989F-DFCE-819F-185A-D23EEB1781D8}"/>
                </a:ext>
              </a:extLst>
            </p:cNvPr>
            <p:cNvSpPr/>
            <p:nvPr/>
          </p:nvSpPr>
          <p:spPr>
            <a:xfrm>
              <a:off x="681487" y="750498"/>
              <a:ext cx="2967487" cy="8932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02BC613-79EB-B492-50F6-6471191C1714}"/>
                </a:ext>
              </a:extLst>
            </p:cNvPr>
            <p:cNvSpPr/>
            <p:nvPr/>
          </p:nvSpPr>
          <p:spPr>
            <a:xfrm>
              <a:off x="681487" y="431321"/>
              <a:ext cx="2536166" cy="31917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/>
                <a:t>4. Simple Solids and Sheet Bodies</a:t>
              </a:r>
              <a:endParaRPr lang="en-US" sz="1100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187DBD8-3C6A-E5A3-4AEC-76F243D05B1B}"/>
                </a:ext>
              </a:extLst>
            </p:cNvPr>
            <p:cNvSpPr txBox="1"/>
            <p:nvPr/>
          </p:nvSpPr>
          <p:spPr>
            <a:xfrm>
              <a:off x="681486" y="812782"/>
              <a:ext cx="296748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Creating Primitive Solids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Creating Sections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Extruded Bodies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Revolved Bodies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82676AF-F89F-46BA-ECAB-EE43FDA05D3A}"/>
              </a:ext>
            </a:extLst>
          </p:cNvPr>
          <p:cNvGrpSpPr/>
          <p:nvPr/>
        </p:nvGrpSpPr>
        <p:grpSpPr>
          <a:xfrm>
            <a:off x="3469253" y="1461765"/>
            <a:ext cx="2967488" cy="1239285"/>
            <a:chOff x="681486" y="431321"/>
            <a:chExt cx="2967488" cy="123928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785BD7E-3643-9C70-9FA2-83FEB659F471}"/>
                </a:ext>
              </a:extLst>
            </p:cNvPr>
            <p:cNvSpPr/>
            <p:nvPr/>
          </p:nvSpPr>
          <p:spPr>
            <a:xfrm>
              <a:off x="681487" y="750497"/>
              <a:ext cx="2967487" cy="92010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55436B3-2402-EE89-4E9A-5B85B754F30B}"/>
                </a:ext>
              </a:extLst>
            </p:cNvPr>
            <p:cNvSpPr/>
            <p:nvPr/>
          </p:nvSpPr>
          <p:spPr>
            <a:xfrm>
              <a:off x="681487" y="431321"/>
              <a:ext cx="2536166" cy="31917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/>
                <a:t>5. Object Properties &amp; Methods</a:t>
              </a:r>
              <a:endParaRPr lang="en-US" sz="110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30040E4-8D4E-E43E-555C-2CFBDFE717C4}"/>
                </a:ext>
              </a:extLst>
            </p:cNvPr>
            <p:cNvSpPr txBox="1"/>
            <p:nvPr/>
          </p:nvSpPr>
          <p:spPr>
            <a:xfrm>
              <a:off x="681486" y="812782"/>
              <a:ext cx="296748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NX Object Properties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Curve and Edge Properties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Face Properties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99F83F5-09FD-EC3C-EBB5-E4C6EC799494}"/>
              </a:ext>
            </a:extLst>
          </p:cNvPr>
          <p:cNvGrpSpPr/>
          <p:nvPr/>
        </p:nvGrpSpPr>
        <p:grpSpPr>
          <a:xfrm>
            <a:off x="6783241" y="2208362"/>
            <a:ext cx="2967489" cy="3148643"/>
            <a:chOff x="681485" y="431321"/>
            <a:chExt cx="2967489" cy="3148643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781E936-423D-2DB7-0ABB-9274953CDB03}"/>
                </a:ext>
              </a:extLst>
            </p:cNvPr>
            <p:cNvSpPr/>
            <p:nvPr/>
          </p:nvSpPr>
          <p:spPr>
            <a:xfrm>
              <a:off x="681487" y="750498"/>
              <a:ext cx="2967487" cy="282946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64F557B-C2F2-560D-B857-A45FB810BA32}"/>
                </a:ext>
              </a:extLst>
            </p:cNvPr>
            <p:cNvSpPr/>
            <p:nvPr/>
          </p:nvSpPr>
          <p:spPr>
            <a:xfrm>
              <a:off x="681487" y="431321"/>
              <a:ext cx="2536166" cy="31917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/>
                <a:t>7. Assemblies</a:t>
              </a:r>
              <a:endParaRPr lang="en-US" sz="1100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125B367-B172-03D4-0897-35928B78A1E2}"/>
                </a:ext>
              </a:extLst>
            </p:cNvPr>
            <p:cNvSpPr txBox="1"/>
            <p:nvPr/>
          </p:nvSpPr>
          <p:spPr>
            <a:xfrm>
              <a:off x="681485" y="788832"/>
              <a:ext cx="2967487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Introduction to NX Assemblies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The Obligatory Car Example (Understanding Practical Use)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Trees, Roots, and Leaves (Assembly Structure)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Components and Prototypes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Cycling Through an Assembly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Indented Listings in Assemblies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Component Positions &amp; Orientations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Object Occurrences and Context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Creating and Managing Assemblies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Changing Reference Sets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Additional Advanced Topics in Assemblies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7397900-1CA8-315A-B539-A0A5518FB5DE}"/>
              </a:ext>
            </a:extLst>
          </p:cNvPr>
          <p:cNvGrpSpPr/>
          <p:nvPr/>
        </p:nvGrpSpPr>
        <p:grpSpPr>
          <a:xfrm>
            <a:off x="155266" y="3523445"/>
            <a:ext cx="2967489" cy="3296486"/>
            <a:chOff x="681485" y="431321"/>
            <a:chExt cx="2967489" cy="3296486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4211CD3-72CA-6486-878D-68D8B52252BF}"/>
                </a:ext>
              </a:extLst>
            </p:cNvPr>
            <p:cNvSpPr/>
            <p:nvPr/>
          </p:nvSpPr>
          <p:spPr>
            <a:xfrm>
              <a:off x="681487" y="750496"/>
              <a:ext cx="2967487" cy="297731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DE3512D-E951-F36B-2D2E-3E1AF3280472}"/>
                </a:ext>
              </a:extLst>
            </p:cNvPr>
            <p:cNvSpPr/>
            <p:nvPr/>
          </p:nvSpPr>
          <p:spPr>
            <a:xfrm>
              <a:off x="681487" y="431321"/>
              <a:ext cx="2536166" cy="31917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/>
                <a:t>8. Drawings &amp; Annotations</a:t>
              </a:r>
              <a:endParaRPr lang="en-US" sz="1100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642438F-A2D7-EEAA-1487-57C837F7148D}"/>
                </a:ext>
              </a:extLst>
            </p:cNvPr>
            <p:cNvSpPr txBox="1"/>
            <p:nvPr/>
          </p:nvSpPr>
          <p:spPr>
            <a:xfrm>
              <a:off x="681485" y="839608"/>
              <a:ext cx="2967487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Introduction to Drawing Automation in NX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Sheets &amp; Sheet Properties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Views &amp; View Properties</a:t>
              </a:r>
            </a:p>
            <a:p>
              <a:pPr marL="628650" lvl="1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Base Views</a:t>
              </a:r>
            </a:p>
            <a:p>
              <a:pPr marL="628650" lvl="1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Projected Views</a:t>
              </a:r>
            </a:p>
            <a:p>
              <a:pPr marL="628650" lvl="1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Using the View Wizard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Dimensioning:</a:t>
              </a:r>
            </a:p>
            <a:p>
              <a:pPr marL="628650" lvl="1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Linear</a:t>
              </a:r>
            </a:p>
            <a:p>
              <a:pPr marL="628650" lvl="1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Radial</a:t>
              </a:r>
            </a:p>
            <a:p>
              <a:pPr marL="628650" lvl="1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Angular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GD&amp;T (Geometric Dimensioning and Tolerancing)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Adding Notes and Labels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Automating Title Blocks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E216672-C5D7-B61A-17B8-3F72E0721ED9}"/>
              </a:ext>
            </a:extLst>
          </p:cNvPr>
          <p:cNvGrpSpPr/>
          <p:nvPr/>
        </p:nvGrpSpPr>
        <p:grpSpPr>
          <a:xfrm>
            <a:off x="3469251" y="2831171"/>
            <a:ext cx="2967489" cy="1239284"/>
            <a:chOff x="681485" y="431321"/>
            <a:chExt cx="2967489" cy="1239284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5F4931DA-BEDB-F84D-79A6-D33EEC2B93D7}"/>
                </a:ext>
              </a:extLst>
            </p:cNvPr>
            <p:cNvSpPr/>
            <p:nvPr/>
          </p:nvSpPr>
          <p:spPr>
            <a:xfrm>
              <a:off x="681487" y="750496"/>
              <a:ext cx="2967487" cy="92010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CCBEA5E2-3AF1-9F27-7084-A992C78E6526}"/>
                </a:ext>
              </a:extLst>
            </p:cNvPr>
            <p:cNvSpPr/>
            <p:nvPr/>
          </p:nvSpPr>
          <p:spPr>
            <a:xfrm>
              <a:off x="681487" y="431321"/>
              <a:ext cx="2536166" cy="31917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/>
                <a:t>9. Selecting NX Objects</a:t>
              </a:r>
              <a:endParaRPr lang="en-US" sz="1100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C5BB6EF-54F1-14FD-3AF1-5974E59C4F93}"/>
                </a:ext>
              </a:extLst>
            </p:cNvPr>
            <p:cNvSpPr txBox="1"/>
            <p:nvPr/>
          </p:nvSpPr>
          <p:spPr>
            <a:xfrm>
              <a:off x="681485" y="839608"/>
              <a:ext cx="296748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Using Selection Dialogs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Working with Select Object Blocks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Selecting Faces, Curves, and Edges Using Collectors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3151F13-06BC-3119-F89D-16C5D4C50662}"/>
              </a:ext>
            </a:extLst>
          </p:cNvPr>
          <p:cNvGrpSpPr/>
          <p:nvPr/>
        </p:nvGrpSpPr>
        <p:grpSpPr>
          <a:xfrm>
            <a:off x="3469250" y="4304801"/>
            <a:ext cx="2967489" cy="3296487"/>
            <a:chOff x="681485" y="431321"/>
            <a:chExt cx="2967489" cy="3296487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523F4168-A90F-EBFD-6F1C-A5E37003A4E7}"/>
                </a:ext>
              </a:extLst>
            </p:cNvPr>
            <p:cNvSpPr/>
            <p:nvPr/>
          </p:nvSpPr>
          <p:spPr>
            <a:xfrm>
              <a:off x="681487" y="750497"/>
              <a:ext cx="2967487" cy="297731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7579CBB-ACE8-A168-3166-2AD70A355216}"/>
                </a:ext>
              </a:extLst>
            </p:cNvPr>
            <p:cNvSpPr/>
            <p:nvPr/>
          </p:nvSpPr>
          <p:spPr>
            <a:xfrm>
              <a:off x="681487" y="431321"/>
              <a:ext cx="2536166" cy="31917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/>
                <a:t>10. Block UI Styler</a:t>
              </a:r>
              <a:endParaRPr lang="en-US" sz="1100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BBDB5ED-8383-BF1F-D47D-1FF721E5C385}"/>
                </a:ext>
              </a:extLst>
            </p:cNvPr>
            <p:cNvSpPr txBox="1"/>
            <p:nvPr/>
          </p:nvSpPr>
          <p:spPr>
            <a:xfrm>
              <a:off x="681485" y="836831"/>
              <a:ext cx="2967487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When to Use Block-Based Dialogs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How Block-Based Dialogs Work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The Overall Process of Dialog-Based Interfaces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Using Block UI Styler Effectively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Working with Controls, Groups, and Properties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Getting Integer, Double, and String Input from Users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Receiving Point3d and Vector3d Inputs in Dialogs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Selecting Bodies, Faces, and Edges Through Dialog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Handling Events: initialize, apply, okay, and update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13732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4082CDF-FE2C-9400-1BB8-7111F09939DA}"/>
              </a:ext>
            </a:extLst>
          </p:cNvPr>
          <p:cNvGrpSpPr/>
          <p:nvPr/>
        </p:nvGrpSpPr>
        <p:grpSpPr>
          <a:xfrm>
            <a:off x="3469255" y="132514"/>
            <a:ext cx="2967489" cy="1845062"/>
            <a:chOff x="681485" y="431321"/>
            <a:chExt cx="2967489" cy="184506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863BAE6-A1F5-04DC-2314-9A69AC8D8D3E}"/>
                </a:ext>
              </a:extLst>
            </p:cNvPr>
            <p:cNvSpPr/>
            <p:nvPr/>
          </p:nvSpPr>
          <p:spPr>
            <a:xfrm>
              <a:off x="681487" y="750496"/>
              <a:ext cx="2967487" cy="152588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691A45E-AEB1-3AE7-4FE8-F5A00C6C70DA}"/>
                </a:ext>
              </a:extLst>
            </p:cNvPr>
            <p:cNvSpPr/>
            <p:nvPr/>
          </p:nvSpPr>
          <p:spPr>
            <a:xfrm>
              <a:off x="681487" y="431321"/>
              <a:ext cx="2536166" cy="31917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/>
                <a:t>12. Exception Handling in NX Open</a:t>
              </a:r>
              <a:endParaRPr lang="en-US" sz="11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EB03BCE-C661-6A95-9DB2-E220995A9A83}"/>
                </a:ext>
              </a:extLst>
            </p:cNvPr>
            <p:cNvSpPr txBox="1"/>
            <p:nvPr/>
          </p:nvSpPr>
          <p:spPr>
            <a:xfrm>
              <a:off x="681485" y="839608"/>
              <a:ext cx="2967487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Understanding Exceptions in C# and NX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Examples of Unhandled Exceptions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Properly Handling Exceptions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Accessing Exception Properties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Working with NX-Specific Exceptions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Strategies to Avoid Exceptions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The Role of the finally Block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2DF9F6F-A942-A355-070B-C344E0E9F14A}"/>
              </a:ext>
            </a:extLst>
          </p:cNvPr>
          <p:cNvGrpSpPr/>
          <p:nvPr/>
        </p:nvGrpSpPr>
        <p:grpSpPr>
          <a:xfrm>
            <a:off x="188348" y="132514"/>
            <a:ext cx="2967489" cy="1239284"/>
            <a:chOff x="681485" y="431321"/>
            <a:chExt cx="2967489" cy="123928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91756AD-7AC5-6C8E-1841-A159519A9F17}"/>
                </a:ext>
              </a:extLst>
            </p:cNvPr>
            <p:cNvSpPr/>
            <p:nvPr/>
          </p:nvSpPr>
          <p:spPr>
            <a:xfrm>
              <a:off x="681487" y="750496"/>
              <a:ext cx="2967487" cy="92010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BA07C8C-F6C9-BFA4-0435-87F58F021B19}"/>
                </a:ext>
              </a:extLst>
            </p:cNvPr>
            <p:cNvSpPr/>
            <p:nvPr/>
          </p:nvSpPr>
          <p:spPr>
            <a:xfrm>
              <a:off x="681487" y="431321"/>
              <a:ext cx="2536166" cy="31917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/>
                <a:t>11. Using Remote Applications</a:t>
              </a:r>
              <a:endParaRPr lang="en-US" sz="11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280253C-E32E-234C-AF70-2D107AEBE726}"/>
                </a:ext>
              </a:extLst>
            </p:cNvPr>
            <p:cNvSpPr txBox="1"/>
            <p:nvPr/>
          </p:nvSpPr>
          <p:spPr>
            <a:xfrm>
              <a:off x="681485" y="839608"/>
              <a:ext cx="296748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Client-Side Programming Concepts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Server-Side Programming in NX Open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Executing Commands on Remote NX Systems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178E17F-6DEA-46CF-87B7-85BC7FF1E1D8}"/>
              </a:ext>
            </a:extLst>
          </p:cNvPr>
          <p:cNvGrpSpPr/>
          <p:nvPr/>
        </p:nvGrpSpPr>
        <p:grpSpPr>
          <a:xfrm>
            <a:off x="6750161" y="107116"/>
            <a:ext cx="2967489" cy="2162614"/>
            <a:chOff x="681485" y="431321"/>
            <a:chExt cx="2967489" cy="216261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A836723-9A72-ABCF-5AA0-CC101B53C7A3}"/>
                </a:ext>
              </a:extLst>
            </p:cNvPr>
            <p:cNvSpPr/>
            <p:nvPr/>
          </p:nvSpPr>
          <p:spPr>
            <a:xfrm>
              <a:off x="681487" y="750497"/>
              <a:ext cx="2967487" cy="18434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CF4AD87-1627-9715-3922-A97BF6379BF3}"/>
                </a:ext>
              </a:extLst>
            </p:cNvPr>
            <p:cNvSpPr/>
            <p:nvPr/>
          </p:nvSpPr>
          <p:spPr>
            <a:xfrm>
              <a:off x="681487" y="431321"/>
              <a:ext cx="2536166" cy="31917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/>
                <a:t>13. Troubleshooting NX Open Development</a:t>
              </a:r>
              <a:endParaRPr lang="en-US" sz="11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5202355-9A3D-A96B-50D0-800C107763F0}"/>
                </a:ext>
              </a:extLst>
            </p:cNvPr>
            <p:cNvSpPr txBox="1"/>
            <p:nvPr/>
          </p:nvSpPr>
          <p:spPr>
            <a:xfrm>
              <a:off x="681485" y="839608"/>
              <a:ext cx="2967487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Reading and Using the NX Log File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Solving “Invalid Attempt to Load Library” Errors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Resolving “is not a member of NX Open” Issues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Fixing “Unable to Load Referenced Library” Errors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Dealing with “Failed to Load Image” Problems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A1D1A43-4795-BB47-8E38-140B36865487}"/>
              </a:ext>
            </a:extLst>
          </p:cNvPr>
          <p:cNvGrpSpPr/>
          <p:nvPr/>
        </p:nvGrpSpPr>
        <p:grpSpPr>
          <a:xfrm>
            <a:off x="129396" y="1569289"/>
            <a:ext cx="2967489" cy="1720012"/>
            <a:chOff x="681485" y="431321"/>
            <a:chExt cx="2967489" cy="1720012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0BCE006-22F0-6BC3-5781-99A387580935}"/>
                </a:ext>
              </a:extLst>
            </p:cNvPr>
            <p:cNvSpPr/>
            <p:nvPr/>
          </p:nvSpPr>
          <p:spPr>
            <a:xfrm>
              <a:off x="681487" y="750497"/>
              <a:ext cx="2967487" cy="140083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B012E7B-3472-0D77-20E0-7902601265D0}"/>
                </a:ext>
              </a:extLst>
            </p:cNvPr>
            <p:cNvSpPr/>
            <p:nvPr/>
          </p:nvSpPr>
          <p:spPr>
            <a:xfrm>
              <a:off x="681487" y="431321"/>
              <a:ext cx="2536166" cy="31917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/>
                <a:t>14. Post-Training Support</a:t>
              </a:r>
              <a:endParaRPr lang="en-US" sz="110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38ED693-7358-F20E-302F-F4EE726103B9}"/>
                </a:ext>
              </a:extLst>
            </p:cNvPr>
            <p:cNvSpPr txBox="1"/>
            <p:nvPr/>
          </p:nvSpPr>
          <p:spPr>
            <a:xfrm>
              <a:off x="681485" y="839608"/>
              <a:ext cx="296748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Real-World Project Support and Guidance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Resume Building &amp; Interview Preparation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Job Assistance &amp; Long-Term Career Guidance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91036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13FC6E-BA84-49D9-4BEF-3F5CDA2BE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237562" cy="31070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43D575-621F-9CDD-453C-93C5ECB97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49" y="3235083"/>
            <a:ext cx="6183964" cy="27085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FC27A0-4071-7171-13B5-C9A4D658F3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1353" y="2120997"/>
            <a:ext cx="5647998" cy="2616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980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7A1ADEE-85DA-B62D-5ACA-74206E549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6472"/>
            <a:ext cx="9906000" cy="4425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886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456</TotalTime>
  <Words>651</Words>
  <Application>Microsoft Office PowerPoint</Application>
  <PresentationFormat>A4 Paper (210x297 mm)</PresentationFormat>
  <Paragraphs>133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Vu HuynhNguyenHoang-VINA</dc:creator>
  <cp:lastModifiedBy>Vu HuynhNguyenHoang-VINA</cp:lastModifiedBy>
  <cp:revision>18</cp:revision>
  <dcterms:created xsi:type="dcterms:W3CDTF">2025-11-28T01:33:02Z</dcterms:created>
  <dcterms:modified xsi:type="dcterms:W3CDTF">2025-11-28T09:09:15Z</dcterms:modified>
</cp:coreProperties>
</file>